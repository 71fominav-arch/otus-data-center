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5" r:id="rId7"/>
    <p:sldId id="261" r:id="rId8"/>
    <p:sldId id="262" r:id="rId9"/>
    <p:sldId id="263" r:id="rId10"/>
    <p:sldId id="264" r:id="rId11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4" d="100"/>
          <a:sy n="74" d="100"/>
        </p:scale>
        <p:origin x="57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3631EF-2931-48F7-AD3C-FE93CD4E239A}" type="datetimeFigureOut">
              <a:rPr lang="ru-RU" smtClean="0"/>
              <a:t>16.03.2026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2E8808-1FA6-48AE-A8E4-AE3400685C0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888815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3631EF-2931-48F7-AD3C-FE93CD4E239A}" type="datetimeFigureOut">
              <a:rPr lang="ru-RU" smtClean="0"/>
              <a:t>16.03.2026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2E8808-1FA6-48AE-A8E4-AE3400685C0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775903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3631EF-2931-48F7-AD3C-FE93CD4E239A}" type="datetimeFigureOut">
              <a:rPr lang="ru-RU" smtClean="0"/>
              <a:t>16.03.2026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2E8808-1FA6-48AE-A8E4-AE3400685C0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428567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3631EF-2931-48F7-AD3C-FE93CD4E239A}" type="datetimeFigureOut">
              <a:rPr lang="ru-RU" smtClean="0"/>
              <a:t>16.03.2026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2E8808-1FA6-48AE-A8E4-AE3400685C0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626392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3631EF-2931-48F7-AD3C-FE93CD4E239A}" type="datetimeFigureOut">
              <a:rPr lang="ru-RU" smtClean="0"/>
              <a:t>16.03.2026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2E8808-1FA6-48AE-A8E4-AE3400685C0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469816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3631EF-2931-48F7-AD3C-FE93CD4E239A}" type="datetimeFigureOut">
              <a:rPr lang="ru-RU" smtClean="0"/>
              <a:t>16.03.2026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2E8808-1FA6-48AE-A8E4-AE3400685C0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209845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3631EF-2931-48F7-AD3C-FE93CD4E239A}" type="datetimeFigureOut">
              <a:rPr lang="ru-RU" smtClean="0"/>
              <a:t>16.03.2026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2E8808-1FA6-48AE-A8E4-AE3400685C0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081181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3631EF-2931-48F7-AD3C-FE93CD4E239A}" type="datetimeFigureOut">
              <a:rPr lang="ru-RU" smtClean="0"/>
              <a:t>16.03.2026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2E8808-1FA6-48AE-A8E4-AE3400685C0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522569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3631EF-2931-48F7-AD3C-FE93CD4E239A}" type="datetimeFigureOut">
              <a:rPr lang="ru-RU" smtClean="0"/>
              <a:t>16.03.2026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2E8808-1FA6-48AE-A8E4-AE3400685C0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793886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3631EF-2931-48F7-AD3C-FE93CD4E239A}" type="datetimeFigureOut">
              <a:rPr lang="ru-RU" smtClean="0"/>
              <a:t>16.03.2026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2E8808-1FA6-48AE-A8E4-AE3400685C0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443250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3631EF-2931-48F7-AD3C-FE93CD4E239A}" type="datetimeFigureOut">
              <a:rPr lang="ru-RU" smtClean="0"/>
              <a:t>16.03.2026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2E8808-1FA6-48AE-A8E4-AE3400685C0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516472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3631EF-2931-48F7-AD3C-FE93CD4E239A}" type="datetimeFigureOut">
              <a:rPr lang="ru-RU" smtClean="0"/>
              <a:t>16.03.2026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2E8808-1FA6-48AE-A8E4-AE3400685C0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455883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Создание ЦОД для финансовой </a:t>
            </a:r>
            <a:r>
              <a:rPr lang="ru-RU" dirty="0" smtClean="0"/>
              <a:t>организации</a:t>
            </a: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6163782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ru-RU" sz="3200" dirty="0"/>
              <a:t>Создание ЦОД для финансовой организации имеющей две независимые сети не взаимодействующие между собой напрямую.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ЦОД на 20 стоек.</a:t>
            </a:r>
          </a:p>
          <a:p>
            <a:r>
              <a:rPr lang="ru-RU" dirty="0"/>
              <a:t>6 серверов в стойке. Всего 120 серверов. На каждый сервер по 2 порта 25 </a:t>
            </a:r>
            <a:r>
              <a:rPr lang="ru-RU" dirty="0" err="1"/>
              <a:t>Gbs</a:t>
            </a:r>
            <a:r>
              <a:rPr lang="ru-RU" dirty="0"/>
              <a:t>.</a:t>
            </a:r>
          </a:p>
          <a:p>
            <a:r>
              <a:rPr lang="ru-RU" dirty="0"/>
              <a:t>На базе современного оборудования</a:t>
            </a:r>
          </a:p>
          <a:p>
            <a:r>
              <a:rPr lang="ru-RU" dirty="0"/>
              <a:t>Применение технологий </a:t>
            </a:r>
            <a:r>
              <a:rPr lang="ru-RU" dirty="0" err="1"/>
              <a:t>Vxlan</a:t>
            </a:r>
            <a:r>
              <a:rPr lang="ru-RU" dirty="0"/>
              <a:t> . </a:t>
            </a:r>
            <a:r>
              <a:rPr lang="ru-RU" dirty="0" err="1"/>
              <a:t>Mlag</a:t>
            </a:r>
            <a:r>
              <a:rPr lang="ru-RU" dirty="0"/>
              <a:t>.</a:t>
            </a:r>
          </a:p>
          <a:p>
            <a:r>
              <a:rPr lang="ru-RU" dirty="0"/>
              <a:t>Порты UPLINK 100 </a:t>
            </a:r>
            <a:r>
              <a:rPr lang="ru-RU" dirty="0" err="1"/>
              <a:t>Gbs</a:t>
            </a:r>
            <a:r>
              <a:rPr lang="ru-RU" dirty="0"/>
              <a:t>. Порты </a:t>
            </a:r>
            <a:r>
              <a:rPr lang="ru-RU" dirty="0" err="1"/>
              <a:t>DownLink</a:t>
            </a:r>
            <a:r>
              <a:rPr lang="ru-RU" dirty="0"/>
              <a:t> 25 </a:t>
            </a:r>
            <a:r>
              <a:rPr lang="ru-RU" dirty="0" err="1"/>
              <a:t>Gbs</a:t>
            </a:r>
            <a:r>
              <a:rPr lang="ru-RU" dirty="0"/>
              <a:t>.</a:t>
            </a:r>
          </a:p>
          <a:p>
            <a:r>
              <a:rPr lang="ru-RU" dirty="0"/>
              <a:t>Возможность роста до 3-х раз.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928530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33365"/>
          </a:xfrm>
        </p:spPr>
        <p:txBody>
          <a:bodyPr>
            <a:normAutofit fontScale="90000"/>
          </a:bodyPr>
          <a:lstStyle/>
          <a:p>
            <a:r>
              <a:rPr lang="ru-RU" dirty="0" smtClean="0"/>
              <a:t>Требования к сегментам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1159099"/>
            <a:ext cx="10515600" cy="5017864"/>
          </a:xfrm>
        </p:spPr>
        <p:txBody>
          <a:bodyPr>
            <a:normAutofit fontScale="92500" lnSpcReduction="20000"/>
          </a:bodyPr>
          <a:lstStyle/>
          <a:p>
            <a:r>
              <a:rPr lang="ru-RU" dirty="0"/>
              <a:t>В финансовой организации существуют две взаимно не пересекающиеся системы, отвечающие за разные сферы деятельности:</a:t>
            </a:r>
          </a:p>
          <a:p>
            <a:pPr lvl="1"/>
            <a:r>
              <a:rPr lang="ru-RU" dirty="0" err="1"/>
              <a:t>Учетно</a:t>
            </a:r>
            <a:r>
              <a:rPr lang="ru-RU" dirty="0"/>
              <a:t> операционная система (UOS);</a:t>
            </a:r>
          </a:p>
          <a:p>
            <a:pPr lvl="1"/>
            <a:r>
              <a:rPr lang="ru-RU" dirty="0"/>
              <a:t>Информационно аналитическая система (IAS).</a:t>
            </a:r>
          </a:p>
          <a:p>
            <a:r>
              <a:rPr lang="ru-RU" dirty="0"/>
              <a:t>Системы функционируют в полностью изолированных друг от друга </a:t>
            </a:r>
            <a:r>
              <a:rPr lang="ru-RU" dirty="0" smtClean="0"/>
              <a:t>контурах безопасности. </a:t>
            </a:r>
            <a:r>
              <a:rPr lang="ru-RU" dirty="0"/>
              <a:t>Изоляция систем на уровне двух не связанных VRF в каждом офисе.</a:t>
            </a:r>
          </a:p>
          <a:p>
            <a:r>
              <a:rPr lang="ru-RU" dirty="0"/>
              <a:t>Между системами в рамках ЦОД требуется создать механизм обмена информацией между системами через отдельную систему DMZ.</a:t>
            </a:r>
          </a:p>
          <a:p>
            <a:r>
              <a:rPr lang="ru-RU" dirty="0"/>
              <a:t>В рамках создания ЦОД для соответствующих систем выделены сети UOS - 10.144.0.0/18, IAS - 10.80.0.0/18, DMZ - 10.112.0.0/18.</a:t>
            </a:r>
          </a:p>
          <a:p>
            <a:r>
              <a:rPr lang="ru-RU" dirty="0"/>
              <a:t>Контроль доступа к информационным ресурсам осуществляется с помощью МСЭ.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8134167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420486"/>
          </a:xfrm>
        </p:spPr>
        <p:txBody>
          <a:bodyPr>
            <a:normAutofit fontScale="90000"/>
          </a:bodyPr>
          <a:lstStyle/>
          <a:p>
            <a:endParaRPr lang="ru-RU" dirty="0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8338" y="1004888"/>
            <a:ext cx="10645461" cy="5172075"/>
          </a:xfrm>
        </p:spPr>
      </p:pic>
    </p:spTree>
    <p:extLst>
      <p:ext uri="{BB962C8B-B14F-4D97-AF65-F5344CB8AC3E}">
        <p14:creationId xmlns:p14="http://schemas.microsoft.com/office/powerpoint/2010/main" val="9231791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87912"/>
          </a:xfrm>
        </p:spPr>
        <p:txBody>
          <a:bodyPr>
            <a:normAutofit fontScale="90000"/>
          </a:bodyPr>
          <a:lstStyle/>
          <a:p>
            <a:r>
              <a:rPr lang="ru-RU" dirty="0" smtClean="0"/>
              <a:t>Схема подключения коммутаторов</a:t>
            </a:r>
            <a:endParaRPr lang="ru-RU" dirty="0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7730" y="953038"/>
            <a:ext cx="11603864" cy="5731097"/>
          </a:xfrm>
        </p:spPr>
      </p:pic>
    </p:spTree>
    <p:extLst>
      <p:ext uri="{BB962C8B-B14F-4D97-AF65-F5344CB8AC3E}">
        <p14:creationId xmlns:p14="http://schemas.microsoft.com/office/powerpoint/2010/main" val="4419648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52306"/>
          </a:xfrm>
        </p:spPr>
        <p:txBody>
          <a:bodyPr>
            <a:normAutofit fontScale="90000"/>
          </a:bodyPr>
          <a:lstStyle/>
          <a:p>
            <a:r>
              <a:rPr lang="ru-RU" dirty="0" err="1" smtClean="0"/>
              <a:t>Рапределение</a:t>
            </a:r>
            <a:r>
              <a:rPr lang="ru-RU" dirty="0" smtClean="0"/>
              <a:t> портов</a:t>
            </a:r>
            <a:endParaRPr lang="ru-RU" dirty="0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789" y="1146220"/>
            <a:ext cx="11835684" cy="5602309"/>
          </a:xfrm>
        </p:spPr>
      </p:pic>
    </p:spTree>
    <p:extLst>
      <p:ext uri="{BB962C8B-B14F-4D97-AF65-F5344CB8AC3E}">
        <p14:creationId xmlns:p14="http://schemas.microsoft.com/office/powerpoint/2010/main" val="22664263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62154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Underlay</a:t>
            </a:r>
            <a:endParaRPr lang="ru-RU" dirty="0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2427" y="1081824"/>
            <a:ext cx="11307651" cy="5679583"/>
          </a:xfrm>
        </p:spPr>
      </p:pic>
    </p:spTree>
    <p:extLst>
      <p:ext uri="{BB962C8B-B14F-4D97-AF65-F5344CB8AC3E}">
        <p14:creationId xmlns:p14="http://schemas.microsoft.com/office/powerpoint/2010/main" val="797446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26548"/>
          </a:xfrm>
        </p:spPr>
        <p:txBody>
          <a:bodyPr>
            <a:normAutofit fontScale="90000"/>
          </a:bodyPr>
          <a:lstStyle/>
          <a:p>
            <a:r>
              <a:rPr lang="ru-RU" dirty="0" smtClean="0"/>
              <a:t>Конфигурация </a:t>
            </a:r>
            <a:r>
              <a:rPr lang="en-US" dirty="0" err="1" smtClean="0"/>
              <a:t>Mlag</a:t>
            </a:r>
            <a:endParaRPr lang="ru-RU" dirty="0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943" y="1108075"/>
            <a:ext cx="11256135" cy="5537200"/>
          </a:xfrm>
        </p:spPr>
      </p:pic>
    </p:spTree>
    <p:extLst>
      <p:ext uri="{BB962C8B-B14F-4D97-AF65-F5344CB8AC3E}">
        <p14:creationId xmlns:p14="http://schemas.microsoft.com/office/powerpoint/2010/main" val="7644264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13668"/>
          </a:xfrm>
        </p:spPr>
        <p:txBody>
          <a:bodyPr>
            <a:normAutofit fontScale="90000"/>
          </a:bodyPr>
          <a:lstStyle/>
          <a:p>
            <a:r>
              <a:rPr lang="ru-RU" dirty="0" smtClean="0"/>
              <a:t>МСЭ</a:t>
            </a:r>
            <a:endParaRPr lang="ru-RU" dirty="0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4699" y="1094704"/>
            <a:ext cx="11449318" cy="5082259"/>
          </a:xfrm>
        </p:spPr>
      </p:pic>
    </p:spTree>
    <p:extLst>
      <p:ext uri="{BB962C8B-B14F-4D97-AF65-F5344CB8AC3E}">
        <p14:creationId xmlns:p14="http://schemas.microsoft.com/office/powerpoint/2010/main" val="13389405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472002"/>
          </a:xfrm>
        </p:spPr>
        <p:txBody>
          <a:bodyPr>
            <a:normAutofit fontScale="90000"/>
          </a:bodyPr>
          <a:lstStyle/>
          <a:p>
            <a:r>
              <a:rPr lang="ru-RU" dirty="0" smtClean="0"/>
              <a:t>Обмен информацией</a:t>
            </a:r>
            <a:endParaRPr lang="ru-RU" dirty="0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8941" y="991674"/>
            <a:ext cx="11745532" cy="5615188"/>
          </a:xfrm>
        </p:spPr>
      </p:pic>
    </p:spTree>
    <p:extLst>
      <p:ext uri="{BB962C8B-B14F-4D97-AF65-F5344CB8AC3E}">
        <p14:creationId xmlns:p14="http://schemas.microsoft.com/office/powerpoint/2010/main" val="1549749056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182</Words>
  <Application>Microsoft Office PowerPoint</Application>
  <PresentationFormat>Широкоэкранный</PresentationFormat>
  <Paragraphs>22</Paragraphs>
  <Slides>10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Тема Office</vt:lpstr>
      <vt:lpstr>Создание ЦОД для финансовой организации</vt:lpstr>
      <vt:lpstr>Создание ЦОД для финансовой организации имеющей две независимые сети не взаимодействующие между собой напрямую.</vt:lpstr>
      <vt:lpstr>Требования к сегментам</vt:lpstr>
      <vt:lpstr>Презентация PowerPoint</vt:lpstr>
      <vt:lpstr>Схема подключения коммутаторов</vt:lpstr>
      <vt:lpstr>Рапределение портов</vt:lpstr>
      <vt:lpstr>Underlay</vt:lpstr>
      <vt:lpstr>Конфигурация Mlag</vt:lpstr>
      <vt:lpstr>МСЭ</vt:lpstr>
      <vt:lpstr>Обмен информацией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Создание ЦОД для финансовой организации</dc:title>
  <dc:creator>Рукопашка</dc:creator>
  <cp:lastModifiedBy>Рукопашка</cp:lastModifiedBy>
  <cp:revision>4</cp:revision>
  <dcterms:created xsi:type="dcterms:W3CDTF">2026-03-16T14:53:09Z</dcterms:created>
  <dcterms:modified xsi:type="dcterms:W3CDTF">2026-03-16T15:08:28Z</dcterms:modified>
</cp:coreProperties>
</file>